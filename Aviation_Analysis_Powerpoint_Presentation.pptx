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64" r:id="rId4"/>
  </p:sldMasterIdLst>
  <p:notesMasterIdLst>
    <p:notesMasterId r:id="rId22"/>
  </p:notesMasterIdLst>
  <p:handoutMasterIdLst>
    <p:handoutMasterId r:id="rId23"/>
  </p:handoutMasterIdLst>
  <p:sldIdLst>
    <p:sldId id="295" r:id="rId5"/>
    <p:sldId id="296" r:id="rId6"/>
    <p:sldId id="282" r:id="rId7"/>
    <p:sldId id="297" r:id="rId8"/>
    <p:sldId id="304" r:id="rId9"/>
    <p:sldId id="286" r:id="rId10"/>
    <p:sldId id="294" r:id="rId11"/>
    <p:sldId id="305" r:id="rId12"/>
    <p:sldId id="299" r:id="rId13"/>
    <p:sldId id="306" r:id="rId14"/>
    <p:sldId id="307" r:id="rId15"/>
    <p:sldId id="308" r:id="rId16"/>
    <p:sldId id="300" r:id="rId17"/>
    <p:sldId id="309" r:id="rId18"/>
    <p:sldId id="310" r:id="rId19"/>
    <p:sldId id="311" r:id="rId20"/>
    <p:sldId id="2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CAE1"/>
    <a:srgbClr val="72BE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293" autoAdjust="0"/>
  </p:normalViewPr>
  <p:slideViewPr>
    <p:cSldViewPr snapToGrid="0">
      <p:cViewPr>
        <p:scale>
          <a:sx n="58" d="100"/>
          <a:sy n="58" d="100"/>
        </p:scale>
        <p:origin x="988" y="40"/>
      </p:cViewPr>
      <p:guideLst/>
    </p:cSldViewPr>
  </p:slideViewPr>
  <p:outlineViewPr>
    <p:cViewPr>
      <p:scale>
        <a:sx n="33" d="100"/>
        <a:sy n="33" d="100"/>
      </p:scale>
      <p:origin x="0" y="-489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81869F-F6FC-6A0D-CE07-6B540E550E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A6B6C1-6185-79F5-23C8-927538634E4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41E86C-C6B4-424D-8295-67D3386172F0}" type="datetimeFigureOut">
              <a:rPr lang="en-US" smtClean="0"/>
              <a:t>3/27/2025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75153B-EAEA-CF1E-30D7-16C2E64586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2AFB7-47EE-893B-5887-BDC37DCA5F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F94707-CAF6-40B0-A7EA-C5F3C63CBD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4112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88D07-B188-44E4-ABBB-6994C1A52936}" type="datetimeFigureOut">
              <a:rPr lang="en-US" smtClean="0"/>
              <a:t>3/27/2025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42455A-0D23-4EAB-9AF9-2CC2B3066B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368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77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61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375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177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EF9E1-8988-4BCF-B42C-03BD49EEC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B084D-F27C-25F0-8412-6ACC705C3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FF06C0-515F-C2C9-7318-9BDB6791D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087C4-9CCA-0F07-8FBB-3D471DB5F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82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907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9605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5C66E-38B1-F647-D165-E7BECBB64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26A85F-0D96-8BD0-A104-DF6BD8FB4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2A5AA8-F644-76BB-1F47-AD38FB0C1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B893D-557D-DC77-2922-A7AC65CBA8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526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267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36DEC-3472-1DD7-1A7F-4DEF5E7FC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5AF2C-E7F9-BA27-94C0-7AE1CBDDC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6FEC2-A01F-8AF5-41D3-0B28FD573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14755-1554-11DB-A77A-2049213916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7031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118B6-223C-30FE-A1F2-AC925355C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DEB56-76CC-253D-BB6D-0049565C3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5AE7E-2D85-CF9B-CCAF-739F2D040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958E4-F4FF-249C-00FF-1F8830308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4688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7FC7A-F44D-EBC1-349E-375BC3CF6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58B33-D8BC-A532-4708-6D2D11776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9CD67D-C91F-D416-87D5-0994DBCBD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4CDCA-54D9-4B35-1AEB-EF0D1C6347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253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0997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FEBB3-1168-DF60-5E50-118C5C627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A86DB-B5CC-062B-016D-18E132F13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133E40-4D3F-502D-AC61-8A8D5093F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99D5A-0D0E-B764-DE59-6134BAC77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3799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ECF3E-EA67-9D86-CB0F-BB27D54D7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608A6B-6F7F-33FB-3FB6-512AAA0ED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1E3F3-3A57-5481-574B-F379C5F4A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CE1E0-B2BC-C0DA-3225-A0CBCA7293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0605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951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63674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18782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32361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08489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6516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18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464DCA-A9BF-A892-3059-84E13570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070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4630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6775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1989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45913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E0AB24-7427-4E0C-9E7C-B642B3170A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solidFill>
            <a:schemeClr val="accent6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30A2A8-DADD-44CC-B8A3-9BFFD5E76B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705101"/>
            <a:ext cx="7537703" cy="2926080"/>
          </a:xfrm>
          <a:solidFill>
            <a:schemeClr val="bg1">
              <a:alpha val="93000"/>
            </a:schemeClr>
          </a:solidFill>
        </p:spPr>
        <p:txBody>
          <a:bodyPr lIns="822960" tIns="91440" bIns="548640" anchor="b" anchorCtr="0">
            <a:noAutofit/>
          </a:bodyPr>
          <a:lstStyle>
            <a:lvl1pPr>
              <a:defRPr/>
            </a:lvl1pPr>
          </a:lstStyle>
          <a:p>
            <a:r>
              <a:rPr lang="en-US" sz="5400" dirty="0">
                <a:solidFill>
                  <a:schemeClr val="tx1"/>
                </a:solidFill>
              </a:rPr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8344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8832B6D9-0469-48A5-A85E-8C5D8EF86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Click to add title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A8F00A-3EB2-4D4D-B4A7-990BB91D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4142A7E4-A56F-4FC2-A81D-36A83134A21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7280" y="2108201"/>
            <a:ext cx="10058399" cy="3760891"/>
          </a:xfrm>
        </p:spPr>
        <p:txBody>
          <a:bodyPr lIns="91440">
            <a:normAutofit/>
          </a:bodyPr>
          <a:lstStyle>
            <a:lvl1pPr marL="347472" indent="-347472">
              <a:spcBef>
                <a:spcPts val="1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3000"/>
            </a:lvl1pPr>
            <a:lvl2pPr>
              <a:spcBef>
                <a:spcPts val="1200"/>
              </a:spcBef>
              <a:spcAft>
                <a:spcPts val="200"/>
              </a:spcAft>
              <a:defRPr sz="3000"/>
            </a:lvl2pPr>
            <a:lvl3pPr>
              <a:spcBef>
                <a:spcPts val="1200"/>
              </a:spcBef>
              <a:spcAft>
                <a:spcPts val="200"/>
              </a:spcAft>
              <a:defRPr sz="3000"/>
            </a:lvl3pPr>
            <a:lvl4pPr>
              <a:spcBef>
                <a:spcPts val="1200"/>
              </a:spcBef>
              <a:spcAft>
                <a:spcPts val="200"/>
              </a:spcAft>
              <a:defRPr sz="3000"/>
            </a:lvl4pPr>
            <a:lvl5pPr>
              <a:spcBef>
                <a:spcPts val="1200"/>
              </a:spcBef>
              <a:spcAft>
                <a:spcPts val="200"/>
              </a:spcAft>
              <a:defRPr sz="3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481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E0AB24-7427-4E0C-9E7C-B642B3170A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solidFill>
            <a:schemeClr val="accent6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30A2A8-DADD-44CC-B8A3-9BFFD5E76B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4297" y="2705101"/>
            <a:ext cx="7537703" cy="2926080"/>
          </a:xfrm>
          <a:solidFill>
            <a:schemeClr val="bg1">
              <a:alpha val="93000"/>
            </a:schemeClr>
          </a:solidFill>
        </p:spPr>
        <p:txBody>
          <a:bodyPr lIns="822960" tIns="274320" rIns="822960" bIns="548640" anchor="b" anchorCtr="0">
            <a:noAutofit/>
          </a:bodyPr>
          <a:lstStyle>
            <a:lvl1pPr>
              <a:lnSpc>
                <a:spcPct val="80000"/>
              </a:lnSpc>
              <a:defRPr sz="4800"/>
            </a:lvl1pPr>
          </a:lstStyle>
          <a:p>
            <a:r>
              <a:rPr lang="en-US" sz="5400" dirty="0">
                <a:solidFill>
                  <a:schemeClr val="tx1"/>
                </a:solidFill>
              </a:rPr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43681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8832B6D9-0469-48A5-A85E-8C5D8EF86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Click to add title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A8F00A-3EB2-4D4D-B4A7-990BB91D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4142A7E4-A56F-4FC2-A81D-36A83134A21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7280" y="2182849"/>
            <a:ext cx="10058399" cy="3956692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Font typeface="Arial" panose="020B0604020202020204" pitchFamily="34" charset="0"/>
              <a:buNone/>
              <a:defRPr sz="2400"/>
            </a:lvl1pPr>
            <a:lvl2pPr marL="38404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2pPr>
            <a:lvl3pPr>
              <a:spcBef>
                <a:spcPts val="1200"/>
              </a:spcBef>
              <a:spcAft>
                <a:spcPts val="200"/>
              </a:spcAft>
              <a:defRPr sz="2400"/>
            </a:lvl3pPr>
            <a:lvl4pPr>
              <a:spcBef>
                <a:spcPts val="1200"/>
              </a:spcBef>
              <a:spcAft>
                <a:spcPts val="200"/>
              </a:spcAft>
              <a:defRPr sz="2400"/>
            </a:lvl4pPr>
            <a:lvl5pPr>
              <a:spcBef>
                <a:spcPts val="1200"/>
              </a:spcBef>
              <a:spcAft>
                <a:spcPts val="200"/>
              </a:spcAft>
              <a:defRPr sz="2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053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E0AB24-7427-4E0C-9E7C-B642B3170A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solidFill>
            <a:schemeClr val="accent6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30A2A8-DADD-44CC-B8A3-9BFFD5E76B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705101"/>
            <a:ext cx="7537703" cy="2926080"/>
          </a:xfrm>
          <a:solidFill>
            <a:schemeClr val="bg1">
              <a:alpha val="93000"/>
            </a:schemeClr>
          </a:solidFill>
        </p:spPr>
        <p:txBody>
          <a:bodyPr lIns="822960" tIns="91440" bIns="822960" anchor="b" anchorCtr="0">
            <a:noAutofit/>
          </a:bodyPr>
          <a:lstStyle>
            <a:lvl1pPr>
              <a:defRPr sz="4800"/>
            </a:lvl1pPr>
          </a:lstStyle>
          <a:p>
            <a:r>
              <a:rPr lang="en-US" sz="5400" dirty="0">
                <a:solidFill>
                  <a:schemeClr val="tx1"/>
                </a:solidFill>
              </a:rPr>
              <a:t>Click to add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DF17D8-A326-44D6-A77D-42DA99E927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5389" y="4735798"/>
            <a:ext cx="6692313" cy="845849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4767523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5F368C9-4803-45FD-A0BA-26B5679AF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79" y="286603"/>
            <a:ext cx="9966960" cy="145075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EEE198-C7B9-2C56-05AC-997ADD4EE0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7280" y="2194560"/>
            <a:ext cx="6024003" cy="3754425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None/>
              <a:defRPr sz="2400"/>
            </a:lvl1pPr>
            <a:lvl2pPr marL="347472" indent="-347472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2pPr>
            <a:lvl3pPr marL="56692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3pPr>
            <a:lvl4pPr marL="74980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4pPr>
            <a:lvl5pPr marL="93268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244AF500-76F9-CD01-586B-E1B35B735F8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406640" y="2194560"/>
            <a:ext cx="4067175" cy="3754425"/>
          </a:xfrm>
          <a:solidFill>
            <a:schemeClr val="tx1">
              <a:lumMod val="85000"/>
              <a:lumOff val="15000"/>
            </a:schemeClr>
          </a:solidFill>
        </p:spPr>
        <p:txBody>
          <a:bodyPr lIns="274320" tIns="274320" rIns="274320" bIns="274320">
            <a:normAutofit/>
          </a:bodyPr>
          <a:lstStyle>
            <a:lvl1pPr marL="512064" indent="-512064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658368" indent="-457200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2pPr>
            <a:lvl3pPr marL="841248" indent="-457200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3pPr>
            <a:lvl4pPr marL="1024128" indent="-457200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4pPr>
            <a:lvl5pPr marL="1207008" indent="-457200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2F1891-1ACC-4692-80A2-4F69EAAAE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1493E3-605E-569A-BC16-ACFDDE98E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97280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3032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 and 2 Columns Lef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5F368C9-4803-45FD-A0BA-26B5679AF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676" y="286603"/>
            <a:ext cx="6024004" cy="178852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6487FB7-F6EE-0454-5FB0-228B2EBCB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30366" y="2166571"/>
            <a:ext cx="6030126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E27ABCA-7CD7-B1C6-D787-E3B8959F7FE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39763" y="287338"/>
            <a:ext cx="4067175" cy="2801123"/>
          </a:xfrm>
          <a:solidFill>
            <a:schemeClr val="accent6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244AF500-76F9-CD01-586B-E1B35B735F8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9763" y="3416796"/>
            <a:ext cx="4067175" cy="2801124"/>
          </a:xfrm>
          <a:solidFill>
            <a:schemeClr val="accent6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EEE198-C7B9-2C56-05AC-997ADD4EE0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1676" y="2258012"/>
            <a:ext cx="6024003" cy="3959908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None/>
              <a:defRPr sz="2400"/>
            </a:lvl1pPr>
            <a:lvl2pPr>
              <a:spcBef>
                <a:spcPts val="1200"/>
              </a:spcBef>
              <a:spcAft>
                <a:spcPts val="200"/>
              </a:spcAft>
              <a:defRPr sz="2000"/>
            </a:lvl2pPr>
            <a:lvl3pPr>
              <a:spcBef>
                <a:spcPts val="1200"/>
              </a:spcBef>
              <a:spcAft>
                <a:spcPts val="200"/>
              </a:spcAft>
              <a:defRPr sz="1600"/>
            </a:lvl3pPr>
            <a:lvl4pPr>
              <a:spcBef>
                <a:spcPts val="1200"/>
              </a:spcBef>
              <a:spcAft>
                <a:spcPts val="200"/>
              </a:spcAft>
              <a:defRPr sz="1600"/>
            </a:lvl4pPr>
            <a:lvl5pPr>
              <a:spcBef>
                <a:spcPts val="1200"/>
              </a:spcBef>
              <a:spcAft>
                <a:spcPts val="200"/>
              </a:spcAft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2F1891-1ACC-4692-80A2-4F69EAAAE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250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09674" y="286603"/>
            <a:ext cx="9946006" cy="1450757"/>
          </a:xfrm>
        </p:spPr>
        <p:txBody>
          <a:bodyPr lIns="0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9675" y="2286000"/>
            <a:ext cx="2391941" cy="324856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7AA6B9BC-99C6-B9CE-63BB-C79284371A4A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840163" y="2286000"/>
            <a:ext cx="7315200" cy="3248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9876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4E322D5-1CC3-400A-A187-55543F0E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itle 13">
            <a:extLst>
              <a:ext uri="{FF2B5EF4-FFF2-40B4-BE49-F238E27FC236}">
                <a16:creationId xmlns:a16="http://schemas.microsoft.com/office/drawing/2014/main" id="{EAD2187F-4097-47C0-8330-56262D3283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9485" y="640080"/>
            <a:ext cx="3690257" cy="2450676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523EF1-B104-45FE-925A-5C7906FA1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942633" y="3255512"/>
            <a:ext cx="34747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958037-C140-4697-8EAF-21C950A0EC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0936" y="640080"/>
            <a:ext cx="6912864" cy="5312664"/>
          </a:xfrm>
          <a:solidFill>
            <a:schemeClr val="accent6"/>
          </a:solidFill>
        </p:spPr>
        <p:txBody>
          <a:bodyPr>
            <a:normAutofit/>
          </a:bodyPr>
          <a:lstStyle>
            <a:lvl1pPr algn="ctr"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44613BB0-E0E0-4B1C-9926-EBE53B5420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859485" y="3429000"/>
            <a:ext cx="3690257" cy="2440094"/>
          </a:xfrm>
        </p:spPr>
        <p:txBody>
          <a:bodyPr lIns="9144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66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756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80" r:id="rId15"/>
    <p:sldLayoutId id="2147483781" r:id="rId16"/>
    <p:sldLayoutId id="2147483783" r:id="rId17"/>
    <p:sldLayoutId id="2147483784" r:id="rId18"/>
    <p:sldLayoutId id="2147483785" r:id="rId19"/>
    <p:sldLayoutId id="2147483788" r:id="rId2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github.com/KarimzKarimz/aviation-analysis-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>
            <a:extLst>
              <a:ext uri="{FF2B5EF4-FFF2-40B4-BE49-F238E27FC236}">
                <a16:creationId xmlns:a16="http://schemas.microsoft.com/office/drawing/2014/main" id="{6BEAD192-141F-FDDE-021B-8674B81EECD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4074" b="4074"/>
          <a:stretch/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C834208-78D3-55FF-0568-AC7434753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1518"/>
            <a:ext cx="7537703" cy="2325188"/>
          </a:xfrm>
          <a:solidFill>
            <a:schemeClr val="bg1">
              <a:alpha val="93000"/>
            </a:schemeClr>
          </a:solidFill>
        </p:spPr>
        <p:txBody>
          <a:bodyPr>
            <a:noAutofit/>
          </a:bodyPr>
          <a:lstStyle/>
          <a:p>
            <a:r>
              <a:rPr lang="en-US" b="1" dirty="0">
                <a:latin typeface="Berlin Sans FB Demi" panose="020E0802020502020306" pitchFamily="34" charset="0"/>
              </a:rPr>
              <a:t>Aviation Analysis</a:t>
            </a:r>
            <a:br>
              <a:rPr lang="en-US" b="1" dirty="0">
                <a:latin typeface="Berlin Sans FB Demi" panose="020E0802020502020306" pitchFamily="34" charset="0"/>
              </a:rPr>
            </a:br>
            <a:r>
              <a:rPr lang="en-US" b="1" dirty="0">
                <a:latin typeface="Berlin Sans FB Demi" panose="020E0802020502020306" pitchFamily="34" charset="0"/>
              </a:rPr>
              <a:t>Business Presentation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B9BC5158-490D-F79C-AA21-8493B841F259}"/>
              </a:ext>
            </a:extLst>
          </p:cNvPr>
          <p:cNvSpPr txBox="1">
            <a:spLocks/>
          </p:cNvSpPr>
          <p:nvPr/>
        </p:nvSpPr>
        <p:spPr>
          <a:xfrm>
            <a:off x="5807242" y="4796588"/>
            <a:ext cx="6383234" cy="2061411"/>
          </a:xfrm>
          <a:prstGeom prst="rect">
            <a:avLst/>
          </a:prstGeom>
          <a:solidFill>
            <a:schemeClr val="bg1">
              <a:alpha val="93000"/>
            </a:schemeClr>
          </a:solidFill>
        </p:spPr>
        <p:txBody>
          <a:bodyPr vert="horz" lIns="822960" tIns="91440" rIns="91440" bIns="54864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Berlin Sans FB Demi" panose="020E0802020502020306" pitchFamily="34" charset="0"/>
              </a:rPr>
              <a:t>Faith Karimi Muthoni</a:t>
            </a:r>
          </a:p>
          <a:p>
            <a:r>
              <a:rPr lang="en-US" sz="4000" dirty="0">
                <a:latin typeface="Berlin Sans FB Demi" panose="020E0802020502020306" pitchFamily="34" charset="0"/>
              </a:rPr>
              <a:t>DSF-FT12-HYBRID</a:t>
            </a:r>
          </a:p>
        </p:txBody>
      </p:sp>
    </p:spTree>
    <p:extLst>
      <p:ext uri="{BB962C8B-B14F-4D97-AF65-F5344CB8AC3E}">
        <p14:creationId xmlns:p14="http://schemas.microsoft.com/office/powerpoint/2010/main" val="2076879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44E67-57A4-9825-9E94-C2B258A68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C3D74-CBD0-AEEC-7CF1-ED875B10D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2"/>
            <a:ext cx="10058399" cy="3169652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3600" dirty="0"/>
              <a:t>Understanding aviation risks and safety challenges</a:t>
            </a:r>
          </a:p>
          <a:p>
            <a:pPr>
              <a:buClr>
                <a:schemeClr val="tx1"/>
              </a:buClr>
            </a:pPr>
            <a:r>
              <a:rPr lang="en-US" sz="3600" dirty="0"/>
              <a:t>Analysis of historical aviation accident data</a:t>
            </a:r>
          </a:p>
          <a:p>
            <a:pPr>
              <a:buClr>
                <a:schemeClr val="tx1"/>
              </a:buClr>
            </a:pPr>
            <a:r>
              <a:rPr lang="en-US" sz="3600" dirty="0"/>
              <a:t>Key insights and business recommendations</a:t>
            </a:r>
          </a:p>
          <a:p>
            <a:pPr>
              <a:buClr>
                <a:schemeClr val="tx1"/>
              </a:buClr>
            </a:pPr>
            <a:r>
              <a:rPr lang="en-US" sz="3600" dirty="0"/>
              <a:t>Next steps for improving aviation safety</a:t>
            </a:r>
          </a:p>
        </p:txBody>
      </p:sp>
    </p:spTree>
    <p:extLst>
      <p:ext uri="{BB962C8B-B14F-4D97-AF65-F5344CB8AC3E}">
        <p14:creationId xmlns:p14="http://schemas.microsoft.com/office/powerpoint/2010/main" val="3648163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09326C02-AA2C-C412-E1A4-A2EAFAA84AE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6" r="16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F5278DA-6C8A-199D-CC43-831ACF8AF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7" y="3428999"/>
            <a:ext cx="7537703" cy="2202181"/>
          </a:xfrm>
          <a:solidFill>
            <a:schemeClr val="bg1">
              <a:alpha val="90000"/>
            </a:schemeClr>
          </a:solidFill>
        </p:spPr>
        <p:txBody>
          <a:bodyPr bIns="548640" anchor="b" anchorCtr="0"/>
          <a:lstStyle/>
          <a:p>
            <a:r>
              <a:rPr lang="en-US" dirty="0">
                <a:latin typeface="Berlin Sans FB Demi" panose="020E0802020502020306" pitchFamily="34" charset="0"/>
              </a:rPr>
              <a:t>Business Understanding</a:t>
            </a:r>
          </a:p>
        </p:txBody>
      </p:sp>
    </p:spTree>
    <p:extLst>
      <p:ext uri="{BB962C8B-B14F-4D97-AF65-F5344CB8AC3E}">
        <p14:creationId xmlns:p14="http://schemas.microsoft.com/office/powerpoint/2010/main" val="2972507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06819-AA5B-295D-8572-4858952DA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83709-886B-3B06-E9F0-11D361B52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Our company is expanding into commercial and private aviation to diversify its portfolio.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We lack insight into potential aircraft risks and need to determine the safest options for purchase.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b="1" dirty="0"/>
              <a:t>Objective: </a:t>
            </a:r>
            <a:r>
              <a:rPr lang="en-US" sz="2800" dirty="0"/>
              <a:t>Identify the lowest-risk aircraft to help the new aviation division make informed purchasing decisions.</a:t>
            </a:r>
          </a:p>
        </p:txBody>
      </p:sp>
    </p:spTree>
    <p:extLst>
      <p:ext uri="{BB962C8B-B14F-4D97-AF65-F5344CB8AC3E}">
        <p14:creationId xmlns:p14="http://schemas.microsoft.com/office/powerpoint/2010/main" val="1666731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6D9EC-0900-2162-2BEB-FB800C44D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4C469-80C5-B817-490F-59E597C1E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Why This Matters to the Business.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503C8-61F1-C444-FAB4-4F5816E96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/>
              <a:t>Aviation accidents and incidents result in financial loss, reputational damage, and safety concerns.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/>
              <a:t>Understanding risk factors helps airlines, regulatory bodies, and insurers make data-driven decisions.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b="1" dirty="0"/>
              <a:t>The goal: </a:t>
            </a:r>
            <a:r>
              <a:rPr lang="en-US" sz="2800" dirty="0"/>
              <a:t>Identify key risk factors and suggest strategies to reduce aviation accidents.</a:t>
            </a:r>
          </a:p>
        </p:txBody>
      </p:sp>
    </p:spTree>
    <p:extLst>
      <p:ext uri="{BB962C8B-B14F-4D97-AF65-F5344CB8AC3E}">
        <p14:creationId xmlns:p14="http://schemas.microsoft.com/office/powerpoint/2010/main" val="3857871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424B3BE0-07C0-D05C-0B61-4BE33E9E08F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7802" b="7802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B207F5D-5F40-264B-0403-3682CB3DC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705101"/>
            <a:ext cx="5794872" cy="2926080"/>
          </a:xfrm>
          <a:solidFill>
            <a:schemeClr val="bg1">
              <a:alpha val="90000"/>
            </a:schemeClr>
          </a:solidFill>
        </p:spPr>
        <p:txBody>
          <a:bodyPr tIns="274320" rIns="822960" bIns="914400" anchor="b" anchorCtr="0"/>
          <a:lstStyle/>
          <a:p>
            <a:r>
              <a:rPr lang="en-US" b="1" dirty="0">
                <a:latin typeface="Berlin Sans FB Demi" panose="020E0802020502020306" pitchFamily="34" charset="0"/>
              </a:rPr>
              <a:t>Data Understanding</a:t>
            </a:r>
          </a:p>
        </p:txBody>
      </p:sp>
    </p:spTree>
    <p:extLst>
      <p:ext uri="{BB962C8B-B14F-4D97-AF65-F5344CB8AC3E}">
        <p14:creationId xmlns:p14="http://schemas.microsoft.com/office/powerpoint/2010/main" val="3042288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91CDF-C16E-D9FB-0490-6752F3BAC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Data Used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F8E5A-CF7D-4AEA-7B11-1CF53A729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Source:</a:t>
            </a:r>
            <a:r>
              <a:rPr lang="en-US" dirty="0"/>
              <a:t> National Transportation Safety Board (NTSB)</a:t>
            </a:r>
          </a:p>
          <a:p>
            <a:r>
              <a:rPr lang="en-US" b="1" dirty="0"/>
              <a:t>Timeframe:</a:t>
            </a:r>
            <a:r>
              <a:rPr lang="en-US" dirty="0"/>
              <a:t> 1962 - 2023</a:t>
            </a:r>
          </a:p>
          <a:p>
            <a:r>
              <a:rPr lang="en-US" b="1" dirty="0"/>
              <a:t>Key Variables:</a:t>
            </a:r>
            <a:endParaRPr lang="en-US" dirty="0"/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Accident severity (fatal, non-fatal, incident)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Aircraft type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Weather conditions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Mechanical failures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24F7D-6361-80D6-276E-7CF274A9DF1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06640" y="2194561"/>
            <a:ext cx="4067175" cy="2652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Data Limitations</a:t>
            </a:r>
          </a:p>
          <a:p>
            <a:pPr>
              <a:buClr>
                <a:srgbClr val="C00000"/>
              </a:buClr>
              <a:buFont typeface="Courier New" panose="02070309020205020404" pitchFamily="49" charset="0"/>
              <a:buChar char="o"/>
            </a:pPr>
            <a:r>
              <a:rPr lang="en-US" dirty="0"/>
              <a:t>Some missing values in older records</a:t>
            </a:r>
          </a:p>
          <a:p>
            <a:pPr>
              <a:buClr>
                <a:srgbClr val="C00000"/>
              </a:buClr>
              <a:buFont typeface="Courier New" panose="02070309020205020404" pitchFamily="49" charset="0"/>
              <a:buChar char="o"/>
            </a:pPr>
            <a:r>
              <a:rPr lang="en-US" dirty="0"/>
              <a:t>Possible reporting inconsistencies across years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670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7CCF2-5ED4-C4FB-2FB9-7BEA97931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5BFF8394-729F-6B4C-8C81-5F62EBA1AEE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220" b="31220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97B0E34-2653-2976-F47C-3B1B0559B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463" y="2572899"/>
            <a:ext cx="6011537" cy="3122822"/>
          </a:xfrm>
          <a:solidFill>
            <a:schemeClr val="bg1">
              <a:alpha val="90000"/>
            </a:schemeClr>
          </a:solidFill>
        </p:spPr>
        <p:txBody>
          <a:bodyPr tIns="274320" rIns="822960" bIns="914400" anchor="b" anchorCtr="0"/>
          <a:lstStyle/>
          <a:p>
            <a:r>
              <a:rPr lang="en-US" sz="5400" b="1" dirty="0">
                <a:latin typeface="Berlin Sans FB Demi" panose="020E0802020502020306" pitchFamily="34" charset="0"/>
              </a:rPr>
              <a:t>Data Analysis</a:t>
            </a:r>
            <a:br>
              <a:rPr lang="en-US" sz="5400" b="1" dirty="0">
                <a:latin typeface="Berlin Sans FB Demi" panose="020E0802020502020306" pitchFamily="34" charset="0"/>
              </a:rPr>
            </a:br>
            <a:r>
              <a:rPr lang="en-US" sz="2400" dirty="0">
                <a:latin typeface="Berlin Sans FB" panose="020E0602020502020306" pitchFamily="34" charset="0"/>
              </a:rPr>
              <a:t>Key Findings &amp;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3109325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416DB-BC4C-330B-1179-90F5684F6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+mn-lt"/>
              </a:rPr>
              <a:t>1. Accident Trends Over Time</a:t>
            </a:r>
          </a:p>
        </p:txBody>
      </p:sp>
      <p:pic>
        <p:nvPicPr>
          <p:cNvPr id="6" name="Content Placeholder 14" descr="Office clerk searching for files">
            <a:extLst>
              <a:ext uri="{FF2B5EF4-FFF2-40B4-BE49-F238E27FC236}">
                <a16:creationId xmlns:a16="http://schemas.microsoft.com/office/drawing/2014/main" id="{08637BD7-EBE7-9B0F-2D96-E02697A450F5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40888" y="288896"/>
            <a:ext cx="4064924" cy="2797233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71E581-3C99-81DE-3F57-81E7595DC35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131676" y="2258012"/>
            <a:ext cx="6024003" cy="3360590"/>
          </a:xfrm>
        </p:spPr>
        <p:txBody>
          <a:bodyPr/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Insight:</a:t>
            </a:r>
            <a:r>
              <a:rPr lang="en-US" dirty="0"/>
              <a:t> There is a </a:t>
            </a:r>
            <a:r>
              <a:rPr lang="en-US" b="1" dirty="0"/>
              <a:t>decline in total accidents</a:t>
            </a:r>
            <a:r>
              <a:rPr lang="en-US" dirty="0"/>
              <a:t> over the years, but the </a:t>
            </a:r>
            <a:r>
              <a:rPr lang="en-US" b="1" dirty="0"/>
              <a:t>severity of incidents remains high</a:t>
            </a:r>
            <a:r>
              <a:rPr lang="en-US" dirty="0"/>
              <a:t>.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Business Implication:</a:t>
            </a:r>
            <a:r>
              <a:rPr lang="en-US" dirty="0"/>
              <a:t> Aviation safety improvements are effective, but critical incidents still require focused interventions.</a:t>
            </a:r>
          </a:p>
        </p:txBody>
      </p:sp>
      <p:pic>
        <p:nvPicPr>
          <p:cNvPr id="7" name="Content Placeholder 19" descr="Three women brainstorming">
            <a:extLst>
              <a:ext uri="{FF2B5EF4-FFF2-40B4-BE49-F238E27FC236}">
                <a16:creationId xmlns:a16="http://schemas.microsoft.com/office/drawing/2014/main" id="{C5646C18-01E0-75C8-7655-4411D8143C91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39763" y="3417230"/>
            <a:ext cx="4067175" cy="2800077"/>
          </a:xfrm>
        </p:spPr>
      </p:pic>
    </p:spTree>
    <p:extLst>
      <p:ext uri="{BB962C8B-B14F-4D97-AF65-F5344CB8AC3E}">
        <p14:creationId xmlns:p14="http://schemas.microsoft.com/office/powerpoint/2010/main" val="1900868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7B718-527D-72AD-DE27-4C06448F3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5F36690-827A-993C-858A-CE0F716E9353}"/>
              </a:ext>
            </a:extLst>
          </p:cNvPr>
          <p:cNvSpPr/>
          <p:nvPr/>
        </p:nvSpPr>
        <p:spPr>
          <a:xfrm>
            <a:off x="5100810" y="2060154"/>
            <a:ext cx="6147412" cy="2093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B91BED-0698-CF1D-2C0F-FCEBAD9CD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62" y="1322025"/>
            <a:ext cx="6422050" cy="84278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+mn-lt"/>
              </a:rPr>
              <a:t>2. Leading Causes of Aviation Accidents</a:t>
            </a:r>
          </a:p>
        </p:txBody>
      </p:sp>
      <p:pic>
        <p:nvPicPr>
          <p:cNvPr id="6" name="Content Placeholder 14" descr="Office clerk searching for files">
            <a:extLst>
              <a:ext uri="{FF2B5EF4-FFF2-40B4-BE49-F238E27FC236}">
                <a16:creationId xmlns:a16="http://schemas.microsoft.com/office/drawing/2014/main" id="{0D83EB34-43C9-1105-221D-93AB1B9192C0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7183298" y="288896"/>
            <a:ext cx="4064924" cy="2797233"/>
          </a:xfrm>
        </p:spPr>
      </p:pic>
      <p:pic>
        <p:nvPicPr>
          <p:cNvPr id="7" name="Content Placeholder 19" descr="Three women brainstorming">
            <a:extLst>
              <a:ext uri="{FF2B5EF4-FFF2-40B4-BE49-F238E27FC236}">
                <a16:creationId xmlns:a16="http://schemas.microsoft.com/office/drawing/2014/main" id="{3F560636-255A-7E02-6F1C-671DE3261347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7181047" y="3318078"/>
            <a:ext cx="4067175" cy="2800077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49E32D-4D2C-F88C-24C9-7B43DACC9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63" y="2423265"/>
            <a:ext cx="6024003" cy="3959908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69DFC0B-4E4D-2844-01AA-9361B850BA8A}"/>
              </a:ext>
            </a:extLst>
          </p:cNvPr>
          <p:cNvCxnSpPr/>
          <p:nvPr/>
        </p:nvCxnSpPr>
        <p:spPr>
          <a:xfrm>
            <a:off x="749147" y="2269475"/>
            <a:ext cx="55855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1140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377EE-BB1C-0D71-289F-C32DDA56F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64B82-9CB5-B77A-0CE4-3C418A2F6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+mn-lt"/>
              </a:rPr>
              <a:t>3. Lowest-Risk Aircraft Types</a:t>
            </a:r>
          </a:p>
        </p:txBody>
      </p:sp>
      <p:pic>
        <p:nvPicPr>
          <p:cNvPr id="6" name="Content Placeholder 14" descr="Office clerk searching for files">
            <a:extLst>
              <a:ext uri="{FF2B5EF4-FFF2-40B4-BE49-F238E27FC236}">
                <a16:creationId xmlns:a16="http://schemas.microsoft.com/office/drawing/2014/main" id="{7219D5F4-FDDD-C47F-A4B7-62075E8F287D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40888" y="288896"/>
            <a:ext cx="4064924" cy="2797233"/>
          </a:xfrm>
        </p:spPr>
      </p:pic>
      <p:pic>
        <p:nvPicPr>
          <p:cNvPr id="7" name="Content Placeholder 19" descr="Three women brainstorming">
            <a:extLst>
              <a:ext uri="{FF2B5EF4-FFF2-40B4-BE49-F238E27FC236}">
                <a16:creationId xmlns:a16="http://schemas.microsoft.com/office/drawing/2014/main" id="{244CB820-9B56-7CD2-6030-34E0C4C691EF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39763" y="3417230"/>
            <a:ext cx="4067175" cy="2800077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34FFDA-5161-E190-57F5-41BF8C9F6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Insight:</a:t>
            </a:r>
            <a:r>
              <a:rPr lang="en-US" dirty="0"/>
              <a:t> Certain aircraft models have significantly lower accident rates than others.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Business Implication:</a:t>
            </a:r>
            <a:r>
              <a:rPr lang="en-US" dirty="0"/>
              <a:t> The company should prioritize purchasing </a:t>
            </a:r>
            <a:r>
              <a:rPr lang="en-US" b="1" dirty="0"/>
              <a:t>aircraft with strong safety records and advanced safety features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1206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FC95-2984-B474-7466-828425A60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4761A32A-671B-4B24-F1B3-F5B786316E2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7802" b="7802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A07DE8A-9DE7-4E41-B683-7695D890C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54217"/>
            <a:ext cx="6676221" cy="3150824"/>
          </a:xfrm>
          <a:solidFill>
            <a:schemeClr val="accent1">
              <a:lumMod val="75000"/>
              <a:alpha val="80000"/>
            </a:schemeClr>
          </a:solidFill>
        </p:spPr>
        <p:txBody>
          <a:bodyPr tIns="274320" rIns="822960" bIns="914400" anchor="b" anchorCtr="0"/>
          <a:lstStyle/>
          <a:p>
            <a:r>
              <a:rPr lang="en-US" b="1" dirty="0">
                <a:latin typeface="Berlin Sans FB Demi" panose="020E0802020502020306" pitchFamily="34" charset="0"/>
              </a:rPr>
              <a:t>Business Actions Based on Findings</a:t>
            </a:r>
          </a:p>
        </p:txBody>
      </p:sp>
    </p:spTree>
    <p:extLst>
      <p:ext uri="{BB962C8B-B14F-4D97-AF65-F5344CB8AC3E}">
        <p14:creationId xmlns:p14="http://schemas.microsoft.com/office/powerpoint/2010/main" val="836514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1126C3-E8A2-3CD0-697D-746CFC432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1. Invest in Safer Aircraft Models</a:t>
            </a:r>
            <a:endParaRPr lang="en-US" dirty="0">
              <a:latin typeface="+mn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81F12-B5F1-AD9D-7842-465D15B76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6030633" cy="3760891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dirty="0"/>
              <a:t>Prioritize models with low historical accident rates.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dirty="0"/>
              <a:t>Assess manufacturers with strong safety protocols.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FFFF00"/>
                </a:highlight>
              </a:rPr>
              <a:t>Supporting Visual:</a:t>
            </a:r>
            <a:r>
              <a:rPr lang="en-US" dirty="0">
                <a:highlight>
                  <a:srgbClr val="FFFF00"/>
                </a:highlight>
              </a:rPr>
              <a:t> Comparison Chart on aircraft safety ratings.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919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F49D3-2354-0808-A155-BA4C0D250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3B8CEC-54BF-0802-04DA-D6AAF1C9A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2. Enhance Predictive Maintenance Strategies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9002D-7B37-1755-1841-D4DF7B4C2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6030633" cy="3760891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dirty="0"/>
              <a:t>Use machine learning to detect early signs of mechanical failures.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dirty="0"/>
              <a:t>Implement real-time aircraft monitoring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FFFF00"/>
                </a:highlight>
              </a:rPr>
              <a:t>Supporting Visual:</a:t>
            </a:r>
            <a:r>
              <a:rPr lang="en-US" dirty="0">
                <a:highlight>
                  <a:srgbClr val="FFFF00"/>
                </a:highlight>
              </a:rPr>
              <a:t> Line Chart on mechanical failures over time.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873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97602-4CB3-7243-6384-26CC1F2EE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2449A3-90D8-B064-851F-D98807CF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+mn-lt"/>
              </a:rPr>
              <a:t>3. Improve Pilot Training &amp; Safety Protocols</a:t>
            </a:r>
            <a:endParaRPr lang="en-US" sz="4400" dirty="0">
              <a:latin typeface="+mn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CAA40-4B86-3945-9746-C30E3FB79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6030633" cy="3760891"/>
          </a:xfrm>
        </p:spPr>
        <p:txBody>
          <a:bodyPr>
            <a:normAutofit fontScale="92500" lnSpcReduction="10000"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dirty="0"/>
              <a:t>Focus on mitigating human error through enhanced simulation-based training.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dirty="0"/>
              <a:t>Implement AI-driven decision-support systems in cockpits.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FFFF00"/>
                </a:highlight>
              </a:rPr>
              <a:t>Supporting Visual:</a:t>
            </a:r>
            <a:r>
              <a:rPr lang="en-US" dirty="0">
                <a:highlight>
                  <a:srgbClr val="FFFF00"/>
                </a:highlight>
              </a:rPr>
              <a:t> Bar Chart on human error contribution to accidents.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981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705B2-5929-CD84-3249-52074983E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Future Actions &amp; Considerations</a:t>
            </a:r>
            <a:endParaRPr lang="en-US" sz="54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7A2DA-FC72-75F0-42FD-45FD8CB0F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dirty="0"/>
              <a:t>Conduct </a:t>
            </a:r>
            <a:r>
              <a:rPr lang="en-US" b="1" dirty="0"/>
              <a:t>deeper analysis on specific aircraft manufacturers and models</a:t>
            </a:r>
            <a:r>
              <a:rPr lang="en-US" dirty="0"/>
              <a:t>.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dirty="0"/>
              <a:t>Collaborate with aviation safety organizations for </a:t>
            </a:r>
            <a:r>
              <a:rPr lang="en-US" b="1" dirty="0"/>
              <a:t>policy improvements</a:t>
            </a:r>
            <a:r>
              <a:rPr lang="en-US" dirty="0"/>
              <a:t>.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dirty="0"/>
              <a:t>Implement </a:t>
            </a:r>
            <a:r>
              <a:rPr lang="en-US" b="1" dirty="0"/>
              <a:t>automated risk assessment dashboards</a:t>
            </a:r>
            <a:r>
              <a:rPr lang="en-US" dirty="0"/>
              <a:t> for real-time monitoring.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D7D0047-710E-5467-D623-5E4DD5ADF2F1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7407275" y="2194560"/>
            <a:ext cx="4067175" cy="1807463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1A39FE-7923-92B5-5427-1AE26E714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147" y="4071772"/>
            <a:ext cx="2849429" cy="216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779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B72C7A0-0C64-2361-950E-821843105E22}"/>
              </a:ext>
            </a:extLst>
          </p:cNvPr>
          <p:cNvSpPr/>
          <p:nvPr/>
        </p:nvSpPr>
        <p:spPr>
          <a:xfrm>
            <a:off x="7877060" y="3194892"/>
            <a:ext cx="3672683" cy="1211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152A34F-5793-48E6-BC6E-4B7215AA9A1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6623" r="6623"/>
          <a:stretch/>
        </p:blipFill>
        <p:spPr>
          <a:xfrm>
            <a:off x="630936" y="640080"/>
            <a:ext cx="5935117" cy="5312664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55294-59B0-43EB-94D1-0BF9E1754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577" y="2807924"/>
            <a:ext cx="4796402" cy="1242152"/>
          </a:xfrm>
        </p:spPr>
        <p:txBody>
          <a:bodyPr vert="horz" lIns="91440" tIns="45720" rIns="0" bIns="45720" rtlCol="0" anchor="t">
            <a:normAutofit/>
          </a:bodyPr>
          <a:lstStyle/>
          <a:p>
            <a:r>
              <a:rPr lang="en-US" dirty="0">
                <a:hlinkClick r:id="rId4"/>
              </a:rPr>
              <a:t>GitHub Repository</a:t>
            </a:r>
            <a:endParaRPr lang="en-US" dirty="0"/>
          </a:p>
          <a:p>
            <a:r>
              <a:rPr lang="en-US" dirty="0"/>
              <a:t>faith.karimi@student.moringaschool.com</a:t>
            </a:r>
          </a:p>
        </p:txBody>
      </p:sp>
    </p:spTree>
    <p:extLst>
      <p:ext uri="{BB962C8B-B14F-4D97-AF65-F5344CB8AC3E}">
        <p14:creationId xmlns:p14="http://schemas.microsoft.com/office/powerpoint/2010/main" val="85074301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887178-918B-41B5-90B5-AF84E76A42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E6FD3E-3033-4D44-9759-980DCC3E7F4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FDF0338-C524-4CF6-9268-3569B65741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Retrospect design</Template>
  <TotalTime>383</TotalTime>
  <Words>484</Words>
  <Application>Microsoft Office PowerPoint</Application>
  <PresentationFormat>Widescreen</PresentationFormat>
  <Paragraphs>74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Arial</vt:lpstr>
      <vt:lpstr>Berlin Sans FB</vt:lpstr>
      <vt:lpstr>Berlin Sans FB Demi</vt:lpstr>
      <vt:lpstr>Calibri</vt:lpstr>
      <vt:lpstr>Calibri Light</vt:lpstr>
      <vt:lpstr>Courier New</vt:lpstr>
      <vt:lpstr>Wingdings</vt:lpstr>
      <vt:lpstr>RetrospectVTI</vt:lpstr>
      <vt:lpstr>Aviation Analysis Business Presentation</vt:lpstr>
      <vt:lpstr>Overview:</vt:lpstr>
      <vt:lpstr>Business Understanding</vt:lpstr>
      <vt:lpstr>Problem Statement</vt:lpstr>
      <vt:lpstr>Why This Matters to the Business.</vt:lpstr>
      <vt:lpstr>Data Understanding</vt:lpstr>
      <vt:lpstr>Data Used</vt:lpstr>
      <vt:lpstr>Data Analysis Key Findings &amp; Visualizations</vt:lpstr>
      <vt:lpstr>1. Accident Trends Over Time</vt:lpstr>
      <vt:lpstr>2. Leading Causes of Aviation Accidents</vt:lpstr>
      <vt:lpstr>3. Lowest-Risk Aircraft Types</vt:lpstr>
      <vt:lpstr>Business Actions Based on Findings</vt:lpstr>
      <vt:lpstr>1. Invest in Safer Aircraft Models</vt:lpstr>
      <vt:lpstr>2. Enhance Predictive Maintenance Strategies</vt:lpstr>
      <vt:lpstr>3. Improve Pilot Training &amp; Safety Protocols</vt:lpstr>
      <vt:lpstr>Future Actions &amp; Considerations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Faith Karimi</dc:creator>
  <cp:lastModifiedBy>Faith Karimi</cp:lastModifiedBy>
  <cp:revision>2</cp:revision>
  <dcterms:created xsi:type="dcterms:W3CDTF">2025-03-27T07:07:09Z</dcterms:created>
  <dcterms:modified xsi:type="dcterms:W3CDTF">2025-03-27T13:30:27Z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